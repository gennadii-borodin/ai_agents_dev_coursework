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011680"/>
            <a:ext cx="12191695" cy="2651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0" rIns="50800" tIns="25400" bIns="25400"/>
          <a:lstStyle/>
          <a:p>
            <a:pPr algn="l"/>
            <a:r>
              <a:rPr sz="4600" b="1" i="0">
                <a:solidFill>
                  <a:srgbClr val="ECF3FB"/>
                </a:solidFill>
                <a:latin typeface="Calibri"/>
              </a:rPr>
              <a:t>QA Review Agent</a:t>
            </a:r>
            <a:r>
              <a:rPr sz="2000" b="0" i="0">
                <a:solidFill>
                  <a:srgbClr val="2ECC9C"/>
                </a:solidFill>
                <a:latin typeface="Calibri"/>
              </a:rPr>
              <a:t>Мультиагентная система автоматического ревью тестовой документации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2011680"/>
            <a:ext cx="164592" cy="2651760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11247120" cy="100584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0" i="0">
                <a:solidFill>
                  <a:srgbClr val="9FB3CC"/>
                </a:solidFill>
                <a:latin typeface="Calibri"/>
              </a:rPr>
              <a:t>Стек: LangGraph · PostgreSQL + pgvector · провайдер LLM RouterAI · трассировка Phoenix / OpenTelemetry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"/>
            <a:ext cx="5486400" cy="4572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400" b="0" i="0">
                <a:solidFill>
                  <a:srgbClr val="9FB3CC"/>
                </a:solidFill>
                <a:latin typeface="Calibri"/>
              </a:rPr>
              <a:t>Презентация проекта  ·  курс «Разработка ИИ-агентов»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2800" b="1" i="0">
                <a:solidFill>
                  <a:srgbClr val="ECF3FB"/>
                </a:solidFill>
                <a:latin typeface="Calibri"/>
              </a:rPr>
              <a:t>Цели проекта и прикладной кейс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292608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1200" b="1" i="0">
                <a:solidFill>
                  <a:srgbClr val="0F1B2D"/>
                </a:solidFill>
                <a:latin typeface="Calibri"/>
              </a:rPr>
              <a:t>Зачем мы это строим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394960" cy="4480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600" b="1" i="0">
                <a:solidFill>
                  <a:srgbClr val="F5B741"/>
                </a:solidFill>
                <a:latin typeface="Calibri"/>
              </a:rPr>
              <a:t>Проблема (real-life QA)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CF3FB"/>
                </a:solidFill>
                <a:latin typeface="Calibri"/>
              </a:rPr>
              <a:t>Перед релизом интернет-магазина нужно проверить тестовую базу: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нет ли пропущенных требований и тестов «без привязки»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применены ли техники тест-дизайна, нет ли дублей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соблюдены ли регламенты оформления (QA-TEST-001..010)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ручная проверка тысяч ТК — медленно, субъективно, дорого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394960" cy="4480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600" b="1" i="0">
                <a:solidFill>
                  <a:srgbClr val="2ECC9C"/>
                </a:solidFill>
                <a:latin typeface="Calibri"/>
              </a:rPr>
              <a:t>Цели системы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CF3FB"/>
                </a:solidFill>
                <a:latin typeface="Calibri"/>
              </a:rPr>
              <a:t>Автоматический ревью по трём независимым осям качества: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Покрытие (Coverage) — покрыты ли требования тестами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Дизайн (Design) — техники, дубли, слабые тесты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Стандарты (Standards) — соответствие реестру правил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Воспроизводимый, измеримый, безопасный процесс вместо ручного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• Наблюдаемость: трейсы, метрики, стоимость каждого прогона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400800"/>
            <a:ext cx="11643055" cy="365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50800" tIns="25400" bIns="25400"/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Вход: строка естественного языка (напр. «провести полное ревью»).  Выход: Markdown-отчёты + сводка final_answer.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2800" b="1" i="0">
                <a:solidFill>
                  <a:srgbClr val="ECF3FB"/>
                </a:solidFill>
                <a:latin typeface="Calibri"/>
              </a:rPr>
              <a:t>Архитектура высокого уровня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292608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1200" b="1" i="0">
                <a:solidFill>
                  <a:srgbClr val="0F1B2D"/>
                </a:solidFill>
                <a:latin typeface="Calibri"/>
              </a:rPr>
              <a:t>Компонентная схема (обобщённо)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743200" cy="64008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36A2F0"/>
                </a:solidFill>
                <a:latin typeface="Calibri"/>
              </a:rPr>
              <a:t>CLI / run_review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40280"/>
            <a:ext cx="2743200" cy="137160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ECF3FB"/>
                </a:solidFill>
                <a:latin typeface="Calibri"/>
              </a:rPr>
              <a:t>LangGraph
StateGraph
(router → agents → gate)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40280"/>
            <a:ext cx="2286000" cy="640080"/>
          </a:xfrm>
          <a:prstGeom prst="roundRect">
            <a:avLst/>
          </a:prstGeom>
          <a:solidFill>
            <a:srgbClr val="2ECC9C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0F1B2D"/>
                </a:solidFill>
                <a:latin typeface="Calibri"/>
              </a:rPr>
              <a:t>Coverage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971800"/>
            <a:ext cx="2286000" cy="640080"/>
          </a:xfrm>
          <a:prstGeom prst="roundRect">
            <a:avLst/>
          </a:prstGeom>
          <a:solidFill>
            <a:srgbClr val="2ECC9C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0F1B2D"/>
                </a:solidFill>
                <a:latin typeface="Calibri"/>
              </a:rPr>
              <a:t>Design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703320"/>
            <a:ext cx="2286000" cy="640080"/>
          </a:xfrm>
          <a:prstGeom prst="roundRect">
            <a:avLst/>
          </a:prstGeom>
          <a:solidFill>
            <a:srgbClr val="2ECC9C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0F1B2D"/>
                </a:solidFill>
                <a:latin typeface="Calibri"/>
              </a:rPr>
              <a:t>Standards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54480"/>
            <a:ext cx="2651760" cy="73152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36A2F0"/>
                </a:solidFill>
                <a:latin typeface="Calibri"/>
              </a:rPr>
              <a:t>RouterAIProvider (LLM)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23160"/>
            <a:ext cx="2651760" cy="73152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36A2F0"/>
                </a:solidFill>
                <a:latin typeface="Calibri"/>
              </a:rPr>
              <a:t>EmbeddingProvider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2651760" cy="146304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ECF3FB"/>
                </a:solidFill>
                <a:latin typeface="Calibri"/>
              </a:rPr>
              <a:t>ToolRegistry
· sql_query
· rag_search
· code_validator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011680"/>
            <a:ext cx="2926080" cy="1280160"/>
          </a:xfrm>
          <a:prstGeom prst="roundRect">
            <a:avLst/>
          </a:prstGeom>
          <a:solidFill>
            <a:srgbClr val="F5B741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0F1B2D"/>
                </a:solidFill>
                <a:latin typeface="Calibri"/>
              </a:rPr>
              <a:t>PostgreSQL + pgvector
(requirements · test_cases)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566160"/>
            <a:ext cx="2926080" cy="1005840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0F1B2D"/>
                </a:solidFill>
                <a:latin typeface="Calibri"/>
              </a:rPr>
              <a:t>Phoenix / OTEL
(трассировка, метрики)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1783080"/>
            <a:ext cx="0" cy="45720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08960" y="2560320"/>
            <a:ext cx="274320" cy="365760"/>
          </a:xfrm>
          <a:prstGeom prst="line">
            <a:avLst/>
          </a:prstGeom>
          <a:ln w="28575">
            <a:solidFill>
              <a:srgbClr val="2EC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08960" y="2926080"/>
            <a:ext cx="274320" cy="365760"/>
          </a:xfrm>
          <a:prstGeom prst="line">
            <a:avLst/>
          </a:prstGeom>
          <a:ln w="28575">
            <a:solidFill>
              <a:srgbClr val="2EC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08960" y="2926080"/>
            <a:ext cx="274320" cy="1097280"/>
          </a:xfrm>
          <a:prstGeom prst="line">
            <a:avLst/>
          </a:prstGeom>
          <a:ln w="28575">
            <a:solidFill>
              <a:srgbClr val="2EC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69280" y="1874519"/>
            <a:ext cx="274320" cy="685801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69280" y="2743200"/>
            <a:ext cx="274320" cy="18288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69280" y="3840480"/>
            <a:ext cx="274320" cy="18288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95360" y="2651760"/>
            <a:ext cx="274320" cy="0"/>
          </a:xfrm>
          <a:prstGeom prst="line">
            <a:avLst/>
          </a:prstGeom>
          <a:ln w="28575">
            <a:solidFill>
              <a:srgbClr val="F5B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869680" y="3566160"/>
            <a:ext cx="0" cy="50292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" y="6400800"/>
            <a:ext cx="11643055" cy="365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50800" tIns="25400" bIns="25400"/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Обобщённая компонентная диаграмма: оркестратор запускает независимых агентов; агенты обращаются к LLM/эмбеддингам, инструментам и БД; всё трассируется в Phoenix.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2800" b="1" i="0">
                <a:solidFill>
                  <a:srgbClr val="ECF3FB"/>
                </a:solidFill>
                <a:latin typeface="Calibri"/>
              </a:rPr>
              <a:t>Оркестрация: граф и агентный цикл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292608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1200" b="1" i="0">
                <a:solidFill>
                  <a:srgbClr val="0F1B2D"/>
                </a:solidFill>
                <a:latin typeface="Calibri"/>
              </a:rPr>
              <a:t>LangGraph · 5 шагов · Reason → Act → Observe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57400" cy="137160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ECF3FB"/>
                </a:solidFill>
                <a:latin typeface="Calibri"/>
              </a:rPr>
              <a:t>1. router
классификация
запроса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2240280"/>
            <a:ext cx="91440" cy="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554480"/>
            <a:ext cx="2057400" cy="137160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ECF3FB"/>
                </a:solidFill>
                <a:latin typeface="Calibri"/>
              </a:rPr>
              <a:t>2. load_data_once
селективная
выгрузка из БД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240280"/>
            <a:ext cx="91440" cy="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554480"/>
            <a:ext cx="2057400" cy="137160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ECF3FB"/>
                </a:solidFill>
                <a:latin typeface="Calibri"/>
              </a:rPr>
              <a:t>3. fan-out агентов
(coverage/design/
standards) — параллельно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20840" y="2240280"/>
            <a:ext cx="91440" cy="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12280" y="1554480"/>
            <a:ext cx="2057400" cy="137160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ECF3FB"/>
                </a:solidFill>
                <a:latin typeface="Calibri"/>
              </a:rPr>
              <a:t>4. finalize
сходимость
веток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2240280"/>
            <a:ext cx="91440" cy="0"/>
          </a:xfrm>
          <a:prstGeom prst="line">
            <a:avLst/>
          </a:prstGeom>
          <a:ln w="28575">
            <a:solidFill>
              <a:srgbClr val="36A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61120" y="1554480"/>
            <a:ext cx="2057400" cy="137160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 i="0">
                <a:solidFill>
                  <a:srgbClr val="ECF3FB"/>
                </a:solidFill>
                <a:latin typeface="Calibri"/>
              </a:rPr>
              <a:t>5. quality_gate
проверка +
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00400"/>
            <a:ext cx="4572000" cy="82296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 i="0">
                <a:solidFill>
                  <a:srgbClr val="F5B741"/>
                </a:solidFill>
                <a:latin typeface="Calibri"/>
              </a:rPr>
              <a:t>quality_gate → при сбое агента: повтор ТОЛЬКО упавших (Command/Send), счётчик и max_retry_attempts=2 защищают от петли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949440" y="2926080"/>
            <a:ext cx="891540.0" cy="274320"/>
          </a:xfrm>
          <a:prstGeom prst="line">
            <a:avLst/>
          </a:prstGeom>
          <a:ln w="22225">
            <a:solidFill>
              <a:srgbClr val="F5B7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3200400"/>
            <a:ext cx="3931920" cy="237744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400" b="1" i="0">
                <a:solidFill>
                  <a:srgbClr val="36A2F0"/>
                </a:solidFill>
                <a:latin typeface="Calibri"/>
              </a:rPr>
              <a:t>Агентный цикл Reason → Act → Observe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CF3FB"/>
                </a:solidFill>
                <a:latin typeface="Calibri"/>
              </a:rPr>
              <a:t>• Reason — LLM выбирает нужный инструмент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CF3FB"/>
                </a:solidFill>
                <a:latin typeface="Calibri"/>
              </a:rPr>
              <a:t>• Act — вызов через ToolRegistry (function calling)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CF3FB"/>
                </a:solidFill>
                <a:latin typeface="Calibri"/>
              </a:rPr>
              <a:t>• Observe — результат возвращается в контекст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до max_iterations раундов, затем финальный ответ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400800"/>
            <a:ext cx="11643055" cy="365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50800" tIns="25400" bIns="25400"/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Граф собирается в build_graph(); состояние — Pydantic ReviewState, передаётся между узлами. Checkpointer — MemorySaver (опц. PostgresSaver).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2800" b="1" i="0">
                <a:solidFill>
                  <a:srgbClr val="ECF3FB"/>
                </a:solidFill>
                <a:latin typeface="Calibri"/>
              </a:rPr>
              <a:t>Инструменты и память (RAG)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292608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1200" b="1" i="0">
                <a:solidFill>
                  <a:srgbClr val="0F1B2D"/>
                </a:solidFill>
                <a:latin typeface="Calibri"/>
              </a:rPr>
              <a:t>ToolRegistry · SQL · pgvector · гибридный поиск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3657600" cy="2194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50800" tIns="101600" bIns="25400"/>
          <a:lstStyle/>
          <a:p>
            <a:pPr algn="l"/>
            <a:r>
              <a:rPr sz="1600" b="1" i="0">
                <a:solidFill>
                  <a:srgbClr val="36A2F0"/>
                </a:solidFill>
                <a:latin typeface="Calibri"/>
              </a:rPr>
              <a:t>sql_query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CF3FB"/>
                </a:solidFill>
                <a:latin typeface="Calibri"/>
              </a:rPr>
              <a:t>PostgreSQL (только SELECT)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структурированные выборки; блок мутаций, лимит 1000 строк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554480"/>
            <a:ext cx="3657600" cy="2194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50800" tIns="101600" bIns="25400"/>
          <a:lstStyle/>
          <a:p>
            <a:pPr algn="l"/>
            <a:r>
              <a:rPr sz="1600" b="1" i="0">
                <a:solidFill>
                  <a:srgbClr val="2ECC9C"/>
                </a:solidFill>
                <a:latin typeface="Calibri"/>
              </a:rPr>
              <a:t>rag_search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CF3FB"/>
                </a:solidFill>
                <a:latin typeface="Calibri"/>
              </a:rPr>
              <a:t>pgvector (косинусное сходство)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семантический поиск похожих ТК/требований; тихий фоллбэк []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554480"/>
            <a:ext cx="3657600" cy="2194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50800" tIns="101600" bIns="25400"/>
          <a:lstStyle/>
          <a:p>
            <a:pPr algn="l"/>
            <a:r>
              <a:rPr sz="1600" b="1" i="0">
                <a:solidFill>
                  <a:srgbClr val="F5B741"/>
                </a:solidFill>
                <a:latin typeface="Calibri"/>
              </a:rPr>
              <a:t>code_validator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CF3FB"/>
                </a:solidFill>
                <a:latin typeface="Calibri"/>
              </a:rPr>
              <a:t>детерминированный сервис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статическая проверка структуры ТК без LLM/БД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023360"/>
            <a:ext cx="11430000" cy="201168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1" i="0">
                <a:solidFill>
                  <a:srgbClr val="36A2F0"/>
                </a:solidFill>
                <a:latin typeface="Calibri"/>
              </a:rPr>
              <a:t>Векторная память и гибридный поиск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CF3FB"/>
                </a:solidFill>
                <a:latin typeface="Calibri"/>
              </a:rPr>
              <a:t>pgvector natively в PostgreSQL — embedding vector(1536) + ivfflat-индексы; отдельный векторный стор не нужен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ECF3FB"/>
                </a:solidFill>
                <a:latin typeface="Calibri"/>
              </a:rPr>
              <a:t>Агент управляет retrieval сам (tool_choice=rag_search), а не неявно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FB3CC"/>
                </a:solidFill>
                <a:latin typeface="Calibri"/>
              </a:rPr>
              <a:t>Гибрид: точный SQL req→test_cases  +  семантический RAG; итоговые метрики покрытия пересчитываются детерминированно в коде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400800"/>
            <a:ext cx="11643055" cy="365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50800" tIns="25400" bIns="25400"/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Контракт каждого инструмента описан в skills/*.yaml (SOP, guardrails, constraints), из которых строятся OpenAI-совместимые схемы.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2800" b="1" i="0">
                <a:solidFill>
                  <a:srgbClr val="ECF3FB"/>
                </a:solidFill>
                <a:latin typeface="Calibri"/>
              </a:rPr>
              <a:t>Надёжность и наблюдаемость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292608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1200" b="1" i="0">
                <a:solidFill>
                  <a:srgbClr val="0F1B2D"/>
                </a:solidFill>
                <a:latin typeface="Calibri"/>
              </a:rPr>
              <a:t>Quality gate · retry · трассировка · безопасность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3657600" cy="4480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50800" tIns="101600" bIns="25400"/>
          <a:lstStyle/>
          <a:p>
            <a:pPr algn="l"/>
            <a:r>
              <a:rPr sz="1500" b="1" i="0">
                <a:solidFill>
                  <a:srgbClr val="36A2F0"/>
                </a:solidFill>
                <a:latin typeface="Calibri"/>
              </a:rPr>
              <a:t>Отказоустойчивость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quality_gate: retry только упавших агентов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tenacity retry LLM/эмбеддингов ×3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лимиты: max_retry=2, sql_max_rows=1000, standards_max_iterations=200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circuit-breaker: агент не роняет граф → partial/error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554480"/>
            <a:ext cx="3657600" cy="4480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50800" tIns="101600" bIns="25400"/>
          <a:lstStyle/>
          <a:p>
            <a:pPr algn="l"/>
            <a:r>
              <a:rPr sz="1500" b="1" i="0">
                <a:solidFill>
                  <a:srgbClr val="2ECC9C"/>
                </a:solidFill>
                <a:latin typeface="Calibri"/>
              </a:rPr>
              <a:t>Наблюдаемость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Phoenix + OpenTelemetry (OTLP/gRPC)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OpenInference semconv: LLM/TOOL/RETRIEVAL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метрики: статус, latency, токены, $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сессии трейсов; mask_sensitive перед записью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554480"/>
            <a:ext cx="3657600" cy="4480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50800" tIns="101600" bIns="25400"/>
          <a:lstStyle/>
          <a:p>
            <a:pPr algn="l"/>
            <a:r>
              <a:rPr sz="1500" b="1" i="0">
                <a:solidFill>
                  <a:srgbClr val="F5B741"/>
                </a:solidFill>
                <a:latin typeface="Calibri"/>
              </a:rPr>
              <a:t>Проверка вывода / безопасность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json_schema + json_repair ремонт ответа LLM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детерминированный пересчёт метрик (не «арифметика LLM»)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SQL: forbidden keywords, только SELECT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9FB3CC"/>
                </a:solidFill>
                <a:latin typeface="Calibri"/>
              </a:rPr>
              <a:t>• маскировка PII/секретов; реестр правил с blocking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6400800"/>
            <a:ext cx="11643055" cy="365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50800" tIns="25400" bIns="25400"/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Ошибки инструментов не крашат граф — безопасный возврат; сбои агентов агрегируются в state.errors и обрабатываются quality_gate.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0F1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2800" b="1" i="0">
                <a:solidFill>
                  <a:srgbClr val="ECF3FB"/>
                </a:solidFill>
                <a:latin typeface="Calibri"/>
              </a:rPr>
              <a:t>Итоги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292608"/>
          </a:xfrm>
          <a:prstGeom prst="roundRect">
            <a:avLst/>
          </a:prstGeom>
          <a:solidFill>
            <a:srgbClr val="36A2F0"/>
          </a:solidFill>
          <a:ln w="12700">
            <a:solidFill>
              <a:srgbClr val="36A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50800" tIns="25400" bIns="25400"/>
          <a:lstStyle/>
          <a:p>
            <a:pPr algn="l"/>
            <a:r>
              <a:rPr sz="1200" b="1" i="0">
                <a:solidFill>
                  <a:srgbClr val="0F1B2D"/>
                </a:solidFill>
                <a:latin typeface="Calibri"/>
              </a:rPr>
              <a:t>Что получили и чем это ценно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438912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3D5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101600" bIns="25400"/>
          <a:lstStyle/>
          <a:p>
            <a:pPr algn="l"/>
            <a:r>
              <a:rPr sz="1600" b="1" i="0">
                <a:solidFill>
                  <a:srgbClr val="2ECC9C"/>
                </a:solidFill>
                <a:latin typeface="Calibri"/>
              </a:rPr>
              <a:t>Результат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ECF3FB"/>
                </a:solidFill>
                <a:latin typeface="Calibri"/>
              </a:rPr>
              <a:t>• Закрыт реальный QA-сценарий: авторевью тестовой базы по осям Покрытие / Дизайн / Стандарты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ECF3FB"/>
                </a:solidFill>
                <a:latin typeface="Calibri"/>
              </a:rPr>
              <a:t>• Мультиагентная архитектура на LangGraph: параллельный fan-out, общее состояние, quality gate с targeted retry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ECF3FB"/>
                </a:solidFill>
                <a:latin typeface="Calibri"/>
              </a:rPr>
              <a:t>• Инструменты через единый ToolRegistry (SQL + RAG + валидатор) с контрактами из YAML и function calling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ECF3FB"/>
                </a:solidFill>
                <a:latin typeface="Calibri"/>
              </a:rPr>
              <a:t>• Векторная память natively в PostgreSQL (pgvector) + гибридный поиск, детерминированный пересчёт метрик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ECF3FB"/>
                </a:solidFill>
                <a:latin typeface="Calibri"/>
              </a:rPr>
              <a:t>• Полная наблюдаемость (Phoenix/OTEL), метрики стоимости/латентности и многоуровневая защита вывода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9FB3CC"/>
                </a:solidFill>
                <a:latin typeface="Calibri"/>
              </a:rPr>
              <a:t>• Готово к расширению: новый скилл = YAML + @register_skill, код реестра не дублируется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6400800"/>
            <a:ext cx="11643055" cy="365760"/>
          </a:xfrm>
          <a:prstGeom prst="roundRect">
            <a:avLst/>
          </a:prstGeom>
          <a:solidFill>
            <a:srgbClr val="162742"/>
          </a:solidFill>
          <a:ln w="12700">
            <a:solidFill>
              <a:srgbClr val="1627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50800" tIns="25400" bIns="25400"/>
          <a:lstStyle/>
          <a:p>
            <a:pPr algn="l"/>
            <a:r>
              <a:rPr sz="1100" b="0" i="0">
                <a:solidFill>
                  <a:srgbClr val="9FB3CC"/>
                </a:solidFill>
                <a:latin typeface="Calibri"/>
              </a:rPr>
              <a:t>Спасибо!  ·  QA Review Agent  ·  LangGraph / PostgreSQL+pgvector / RouterAI / Phoenix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